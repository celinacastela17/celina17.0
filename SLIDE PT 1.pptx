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07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1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5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6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6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32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1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2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7003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46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2968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01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30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80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235440" y="731520"/>
            <a:ext cx="1463040" cy="1463040"/>
          </a:xfrm>
          <a:prstGeom prst="ellipse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1828800"/>
            <a:ext cx="731520" cy="731520"/>
          </a:xfrm>
          <a:prstGeom prst="ellipse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2788920"/>
            <a:ext cx="2194560" cy="2194560"/>
          </a:xfrm>
          <a:prstGeom prst="ellipse">
            <a:avLst/>
          </a:prstGeom>
          <a:solidFill>
            <a:srgbClr val="1E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4297680"/>
            <a:ext cx="1143000" cy="1143000"/>
          </a:xfrm>
          <a:prstGeom prst="ellipse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7498079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KWENDA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722376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Criação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de </a:t>
            </a:r>
            <a:r>
              <a:rPr dirty="0" err="1"/>
              <a:t>vendas</a:t>
            </a:r>
            <a:r>
              <a:rPr dirty="0"/>
              <a:t> online para </a:t>
            </a:r>
            <a:r>
              <a:rPr dirty="0" err="1"/>
              <a:t>pequenos</a:t>
            </a:r>
            <a:r>
              <a:rPr dirty="0"/>
              <a:t> </a:t>
            </a:r>
            <a:r>
              <a:rPr dirty="0" err="1"/>
              <a:t>negócios</a:t>
            </a:r>
            <a:r>
              <a:rPr dirty="0"/>
              <a:t> </a:t>
            </a:r>
            <a:r>
              <a:rPr dirty="0" err="1"/>
              <a:t>angolanos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58952" y="3657600"/>
            <a:ext cx="1005840" cy="73152"/>
          </a:xfrm>
          <a:prstGeom prst="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278" y="3461050"/>
            <a:ext cx="7165848" cy="67967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D7E5E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500"/>
              </a:spcAft>
              <a:defRPr sz="1700" b="0">
                <a:solidFill>
                  <a:srgbClr val="D7E5EF"/>
                </a:solidFill>
                <a:latin typeface="Aptos"/>
              </a:defRPr>
            </a:pPr>
            <a:r>
              <a:rPr dirty="0"/>
              <a:t>Caso de </a:t>
            </a:r>
            <a:r>
              <a:rPr dirty="0" err="1"/>
              <a:t>estudo</a:t>
            </a:r>
            <a:r>
              <a:rPr dirty="0"/>
              <a:t>: </a:t>
            </a:r>
            <a:r>
              <a:rPr dirty="0" err="1"/>
              <a:t>Kwenda</a:t>
            </a:r>
            <a:r>
              <a:rPr dirty="0"/>
              <a:t> — E-commerce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532120"/>
            <a:ext cx="7223760" cy="5565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Celina </a:t>
            </a:r>
            <a:r>
              <a:rPr dirty="0" err="1"/>
              <a:t>Mutacaxi</a:t>
            </a:r>
            <a:r>
              <a:rPr dirty="0"/>
              <a:t> </a:t>
            </a:r>
            <a:r>
              <a:rPr dirty="0" err="1"/>
              <a:t>Castela</a:t>
            </a:r>
            <a:r>
              <a:rPr dirty="0"/>
              <a:t>  •  Nº 05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Sala 16  |  </a:t>
            </a:r>
            <a:r>
              <a:rPr dirty="0" err="1"/>
              <a:t>Turma</a:t>
            </a:r>
            <a:r>
              <a:rPr dirty="0"/>
              <a:t> CTI  |  Luanda, Angola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223A"/>
                </a:solidFill>
                <a:latin typeface="Aptos"/>
              </a:defRPr>
            </a:pPr>
            <a:r>
              <a:t>1. Contexto e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6400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D6F81"/>
                </a:solidFill>
                <a:latin typeface="Aptos"/>
              </a:defRPr>
            </a:pPr>
            <a:r>
              <a:t>Por que criar uma plataforma local?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3337560"/>
          </a:xfrm>
          <a:prstGeom prst="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O desafio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59152"/>
            <a:ext cx="4937759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r>
              <a:t>• Pequenos negócios podem ter dificuldade em alcançar clientes online.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r>
              <a:t>• Comissões elevadas e custos pouco transparentes podem reduzir a viabilidade.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r>
              <a:t>• Requisitos técnicos complexos podem afastar vendedores com poucos recursos.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578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73152" cy="333756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90195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A proposta: Kwenda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59152"/>
            <a:ext cx="4892040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r>
              <a:t>Um marketplace conceptual para reunir vendedores angolanos e apresentar produtos de moda, alimentação, tecnologia, casa e artesanato.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23313F"/>
                </a:solidFill>
                <a:latin typeface="Aptos"/>
              </a:defRPr>
            </a:pPr>
            <a:r>
              <a:t>A primeira fase-piloto está pensada para Luanda, com possibilidade de expansão.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D6F8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223A"/>
                </a:solidFill>
                <a:latin typeface="Aptos"/>
              </a:defRPr>
            </a:pPr>
            <a:r>
              <a:t>2. Objectivos e funcionalidades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6400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D6F81"/>
                </a:solidFill>
                <a:latin typeface="Aptos"/>
              </a:defRPr>
            </a:pPr>
            <a:r>
              <a:t>O que o projecto pretende alcançar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429768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rPr dirty="0" err="1"/>
              <a:t>Objectivo</a:t>
            </a:r>
            <a:r>
              <a:rPr dirty="0"/>
              <a:t> </a:t>
            </a:r>
            <a:r>
              <a:rPr dirty="0" err="1"/>
              <a:t>geral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4937759" cy="229037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tecnologias</a:t>
            </a:r>
            <a:r>
              <a:rPr dirty="0"/>
              <a:t> web para </a:t>
            </a:r>
            <a:r>
              <a:rPr dirty="0" err="1"/>
              <a:t>seleccionar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viável</a:t>
            </a:r>
            <a:r>
              <a:rPr dirty="0"/>
              <a:t> para o </a:t>
            </a:r>
            <a:r>
              <a:rPr dirty="0" err="1"/>
              <a:t>Kwenda</a:t>
            </a:r>
            <a:r>
              <a:rPr dirty="0"/>
              <a:t>, com custos </a:t>
            </a:r>
            <a:r>
              <a:rPr dirty="0" err="1"/>
              <a:t>acessíveis</a:t>
            </a:r>
            <a:r>
              <a:rPr dirty="0"/>
              <a:t> e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transparentes</a:t>
            </a:r>
            <a:r>
              <a:rPr dirty="0"/>
              <a:t>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rPr sz="1700" b="1" dirty="0" err="1"/>
              <a:t>Objectivos</a:t>
            </a:r>
            <a:r>
              <a:rPr sz="1700" b="1" dirty="0"/>
              <a:t> </a:t>
            </a:r>
            <a:r>
              <a:rPr sz="1700" b="1" dirty="0" err="1"/>
              <a:t>específicos</a:t>
            </a:r>
            <a:endParaRPr sz="1700" b="1" dirty="0"/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necessidades</a:t>
            </a:r>
            <a:r>
              <a:rPr dirty="0"/>
              <a:t> de </a:t>
            </a:r>
            <a:r>
              <a:rPr dirty="0" err="1"/>
              <a:t>vendedores</a:t>
            </a:r>
            <a:r>
              <a:rPr dirty="0"/>
              <a:t> e </a:t>
            </a:r>
            <a:r>
              <a:rPr dirty="0" err="1"/>
              <a:t>compradores</a:t>
            </a:r>
            <a:r>
              <a:rPr dirty="0"/>
              <a:t>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custo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, </a:t>
            </a:r>
            <a:r>
              <a:rPr dirty="0" err="1"/>
              <a:t>manutenção</a:t>
            </a:r>
            <a:r>
              <a:rPr dirty="0"/>
              <a:t> e </a:t>
            </a:r>
            <a:r>
              <a:rPr dirty="0" err="1"/>
              <a:t>desempenho</a:t>
            </a:r>
            <a:r>
              <a:rPr dirty="0"/>
              <a:t>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Propor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, base de dados e testes.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73152" cy="4297680"/>
          </a:xfrm>
          <a:prstGeom prst="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85623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Funcionalidades mínimas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313432"/>
            <a:ext cx="4892040" cy="3547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t>• Catálogo e pesquisa de produtos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t>• Perfis e autenticação de vendedores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t>• Gestão de produtos e stock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t>• Sacola e registo de encomendas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t>• Painel administrativo e notificações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500" b="0">
                <a:solidFill>
                  <a:srgbClr val="23313F"/>
                </a:solidFill>
                <a:latin typeface="Aptos"/>
              </a:defRPr>
            </a:pPr>
            <a:r>
              <a:t>Fase posterior: pagamentos digitais, entregas, avaliações e relatórios.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D6F8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223A"/>
                </a:solidFill>
                <a:latin typeface="Aptos"/>
              </a:defRPr>
            </a:pPr>
            <a:r>
              <a:t>3. Estudo comparativo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6400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D6F81"/>
                </a:solidFill>
                <a:latin typeface="Aptos"/>
              </a:defRPr>
            </a:pPr>
            <a:r>
              <a:t>Três alternativas tecnológicas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425196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A. React + 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3154680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Pontos fortes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JavaScript no frontend e backend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Interface dinâmica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API reutilizável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A considerar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Gestão de bibliotecas e dependências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Exige testes e manutenção regulares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4251960"/>
          </a:xfrm>
          <a:prstGeom prst="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B. PHP / Laravel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13432"/>
            <a:ext cx="3154680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 err="1"/>
              <a:t>Pontos</a:t>
            </a:r>
            <a:r>
              <a:rPr dirty="0"/>
              <a:t> fortes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Conveniente</a:t>
            </a:r>
            <a:r>
              <a:rPr dirty="0"/>
              <a:t> para </a:t>
            </a:r>
            <a:r>
              <a:rPr dirty="0" err="1"/>
              <a:t>aplicações</a:t>
            </a:r>
            <a:r>
              <a:rPr dirty="0"/>
              <a:t> web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Desenvolvimento</a:t>
            </a:r>
            <a:r>
              <a:rPr dirty="0"/>
              <a:t> </a:t>
            </a:r>
            <a:r>
              <a:rPr dirty="0" err="1"/>
              <a:t>organizado</a:t>
            </a:r>
            <a:endParaRPr dirty="0"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Alojamento</a:t>
            </a:r>
            <a:r>
              <a:rPr dirty="0"/>
              <a:t> </a:t>
            </a:r>
            <a:r>
              <a:rPr dirty="0" err="1"/>
              <a:t>compatível</a:t>
            </a:r>
            <a:r>
              <a:rPr dirty="0"/>
              <a:t> </a:t>
            </a:r>
            <a:r>
              <a:rPr dirty="0" err="1"/>
              <a:t>amplamente</a:t>
            </a:r>
            <a:r>
              <a:rPr dirty="0"/>
              <a:t> </a:t>
            </a:r>
            <a:r>
              <a:rPr dirty="0" err="1"/>
              <a:t>disponível</a:t>
            </a:r>
            <a:endParaRPr dirty="0"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considerar</a:t>
            </a:r>
            <a:endParaRPr dirty="0"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Depende</a:t>
            </a:r>
            <a:r>
              <a:rPr dirty="0"/>
              <a:t> da </a:t>
            </a:r>
            <a:r>
              <a:rPr dirty="0" err="1"/>
              <a:t>experiência</a:t>
            </a:r>
            <a:r>
              <a:rPr dirty="0"/>
              <a:t> da </a:t>
            </a:r>
            <a:r>
              <a:rPr dirty="0" err="1"/>
              <a:t>equipa</a:t>
            </a:r>
            <a:endParaRPr dirty="0"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precisar</a:t>
            </a:r>
            <a:r>
              <a:rPr dirty="0"/>
              <a:t> de JavaScript </a:t>
            </a:r>
            <a:r>
              <a:rPr dirty="0" err="1"/>
              <a:t>adicional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7472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4251960"/>
          </a:xfrm>
          <a:prstGeom prst="rect">
            <a:avLst/>
          </a:prstGeom>
          <a:solidFill>
            <a:srgbClr val="4C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C. C# / ASP.NET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313432"/>
            <a:ext cx="3108960" cy="35021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Pontos fortes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Estrutura robusta para APIs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Ferramentas do ecossistema .NET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Tipagem estática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A considerar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3313F"/>
                </a:solidFill>
                <a:latin typeface="Aptos"/>
              </a:defRPr>
            </a:pPr>
            <a:r>
              <a:t>• Curva de aprendizagem pode ser maior para iniciantes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D6F8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E223A"/>
                </a:solidFill>
                <a:latin typeface="Aptos"/>
              </a:defRPr>
            </a:pPr>
            <a:r>
              <a:t>4. Arquitectura proposta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822960" cy="6400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D6F81"/>
                </a:solidFill>
                <a:latin typeface="Aptos"/>
              </a:defRPr>
            </a:pPr>
            <a:r>
              <a:t>Separar interface, lógica de negócio 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920240" cy="1051560"/>
          </a:xfrm>
          <a:prstGeom prst="roundRect">
            <a:avLst/>
          </a:prstGeom>
          <a:solidFill>
            <a:srgbClr val="4C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73736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Comprador /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Vendedor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965960"/>
            <a:ext cx="1920240" cy="1051560"/>
          </a:xfrm>
          <a:prstGeom prst="round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2148840"/>
            <a:ext cx="173736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Interface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965960"/>
            <a:ext cx="1920240" cy="1051560"/>
          </a:xfrm>
          <a:prstGeom prst="round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2148840"/>
            <a:ext cx="173736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API / Servidor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965960"/>
            <a:ext cx="1920240" cy="1051560"/>
          </a:xfrm>
          <a:prstGeom prst="roundRect">
            <a:avLst/>
          </a:prstGeom>
          <a:solidFill>
            <a:srgbClr val="16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148840"/>
            <a:ext cx="173736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Base de dados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MySQL /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194560"/>
            <a:ext cx="411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0E22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194560"/>
            <a:ext cx="411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0E22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194560"/>
            <a:ext cx="411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0E22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50749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657600"/>
            <a:ext cx="73152" cy="192024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822191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279392"/>
            <a:ext cx="4709159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Validar dados no servidor, controlar permissões, proteger palavras-passe, usar HTTPS e manter cópias de segurança.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0292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657600"/>
            <a:ext cx="73152" cy="1920240"/>
          </a:xfrm>
          <a:prstGeom prst="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822191"/>
            <a:ext cx="46634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Pagamentos e entregas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279392"/>
            <a:ext cx="466344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Integrar apenas prestadores avaliados e métodos confirmados como disponíveis. Mostrar custos antes da confirmação.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D6F8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5. Conclusão e recomendação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43000"/>
            <a:ext cx="868680" cy="64008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DCE8F0"/>
                </a:solidFill>
                <a:latin typeface="Aptos"/>
              </a:defRPr>
            </a:pPr>
            <a:r>
              <a:t>A tecnologia deve ser escolhida com base nos recursos e competências reais da equipa.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1206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73152" cy="2377440"/>
          </a:xfrm>
          <a:prstGeom prst="rect">
            <a:avLst/>
          </a:prstGeom>
          <a:solidFill>
            <a:srgbClr val="00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679192"/>
            <a:ext cx="47548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Recomendação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36392"/>
            <a:ext cx="4754879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React + Node.js é uma boa opção se a equipa dominar JavaScript e precisar de uma interface dinâmica com API separada.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Laravel ou ASP.NET Core podem ser melhores quando a equipa já domina essas tecnologias.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514600"/>
            <a:ext cx="51663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2514600"/>
            <a:ext cx="73152" cy="2377440"/>
          </a:xfrm>
          <a:prstGeom prst="rect">
            <a:avLst/>
          </a:prstGeom>
          <a:solidFill>
            <a:srgbClr val="F4B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267919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23A"/>
                </a:solidFill>
                <a:latin typeface="Aptos"/>
              </a:defRPr>
            </a:pPr>
            <a:r>
              <a:t>Próximos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136392"/>
            <a:ext cx="4800600" cy="1627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1. Criar um protótipo mínimo.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2. Testar pesquisa, vendedor e encomenda fictícia.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3. Medir custos, erros e facilidade de uso.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3F"/>
                </a:solidFill>
                <a:latin typeface="Aptos"/>
              </a:defRPr>
            </a:pPr>
            <a:r>
              <a:t>4. Validar a proposta com empreendedores de Luanda.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7220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B0A0"/>
                </a:solidFill>
                <a:latin typeface="Aptos"/>
              </a:defRPr>
            </a:pPr>
            <a:r>
              <a:t>Obrigada pela atenção!  |  Celina Mutacaxi Castela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C8D6E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3371B-7BBC-4B3F-85E5-859752FEA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788" y="2404534"/>
            <a:ext cx="9801225" cy="1646302"/>
          </a:xfrm>
        </p:spPr>
        <p:txBody>
          <a:bodyPr/>
          <a:lstStyle/>
          <a:p>
            <a:pPr algn="ctr"/>
            <a:r>
              <a:rPr lang="pt-PT" dirty="0"/>
              <a:t>FIM DO TRABALHO</a:t>
            </a:r>
          </a:p>
        </p:txBody>
      </p:sp>
    </p:spTree>
    <p:extLst>
      <p:ext uri="{BB962C8B-B14F-4D97-AF65-F5344CB8AC3E}">
        <p14:creationId xmlns:p14="http://schemas.microsoft.com/office/powerpoint/2010/main" val="17453401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527</Words>
  <Application>Microsoft Office PowerPoint</Application>
  <PresentationFormat>Ecrã Panorâmico</PresentationFormat>
  <Paragraphs>98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Aptos</vt:lpstr>
      <vt:lpstr>Arial</vt:lpstr>
      <vt:lpstr>Trebuchet MS</vt:lpstr>
      <vt:lpstr>Wingdings 3</vt:lpstr>
      <vt:lpstr>Faceta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FIM DO TRABALHO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LUCRECIA CAMBUQUE</dc:creator>
  <cp:keywords/>
  <dc:description>generated using python-pptx</dc:description>
  <cp:lastModifiedBy>LUCRECIA CAMBUQUE</cp:lastModifiedBy>
  <cp:revision>6</cp:revision>
  <dcterms:created xsi:type="dcterms:W3CDTF">2013-01-27T09:14:16Z</dcterms:created>
  <dcterms:modified xsi:type="dcterms:W3CDTF">2026-10-21T11:38:49Z</dcterms:modified>
  <cp:category/>
</cp:coreProperties>
</file>